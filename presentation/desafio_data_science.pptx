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8FB4DD"/>
                </a:solidFill>
                <a:latin typeface="Calibri"/>
              </a:rPr>
              <a:t>DESAFIO DE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Previsão de Preços de Imóveis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9D6E3"/>
                </a:solidFill>
                <a:latin typeface="Calibri"/>
              </a:rPr>
              <a:t>King County (Seattle, EUA) — dados físicos + demografia por CEP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9FB3C9"/>
                </a:solidFill>
                <a:latin typeface="Calibri"/>
              </a:rPr>
              <a:t>Análise exploratória  ·  Modelagem  ·  Deploy  ·  Aprendizado contínuo  ·  Comunicação com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github.com/AIWASS23/gen_ai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02920" cy="50292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99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D3D"/>
                </a:solidFill>
                <a:latin typeface="Calibri"/>
              </a:rPr>
              <a:t>Contexto 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1907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Os 3 arquivos, o objetivo do desafio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12848"/>
            <a:ext cx="502920" cy="50292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945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D3D"/>
                </a:solidFill>
                <a:latin typeface="Calibri"/>
              </a:rPr>
              <a:t>Análise e entendimento dos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146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Variáveis, correlações, outliers, merge demográfico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08376"/>
            <a:ext cx="502920" cy="50292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990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D3D"/>
                </a:solidFill>
                <a:latin typeface="Calibri"/>
              </a:rPr>
              <a:t>Desenvolvimento do modelo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101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Variáveis importantes, escolha do modelo, generalização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502920" cy="50292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D3D"/>
                </a:solidFill>
                <a:latin typeface="Calibri"/>
              </a:rPr>
              <a:t>Estratégia de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05656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Arquitetura desenhada — e implementada de verdade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99432"/>
            <a:ext cx="502920" cy="50292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8114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D3D"/>
                </a:solidFill>
                <a:latin typeface="Calibri"/>
              </a:rPr>
              <a:t>Aprendizado contínuo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01184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Retreino, avaliação e substituição em produção — implementado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502920" cy="50292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3766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D3D"/>
                </a:solidFill>
                <a:latin typeface="Calibri"/>
              </a:rPr>
              <a:t>Comunicação com stakeholders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69671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Como estes resultados chegam ao negócio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 desafio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Prever o preço de imóveis residenciais anonimizados na região de Seattle (King County, EUA), combinando características físicas do imóvel com dados demográficos do CEP (zipcode).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10881360" cy="18288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Objetivo do desafio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Cobrir todo o ciclo: da análise exploratória ao desenho (e, aqui, implementação) do deploy do modelo.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Foco declarado do desafio: clareza, justificativa e comunicação — não só desempenho do modelo.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Premissas seguidas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Dataset tratado como um projeto de cliente real, apesar de anonimizado.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Uso de boas práticas de ciência de dados em cada etapa (validação, versionamento, testes).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Nem todo dado precisa ser usado — decisões justificadas ao longo do projeto.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Os três arquivos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1106423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2204"/>
                <a:gridCol w="5532120"/>
                <a:gridCol w="1239957"/>
                <a:gridCol w="1239957"/>
              </a:tblGrid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Arquivo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Conteúdo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Linhas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Colunas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kc_house_data.csv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Imóveis vendidos, com preço (02/mai/2014 a 27/mai/2015)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21.613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zipcode_demographics.csv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Dados demográficos agregados por CEP (renda, escolaridade, população)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future_unseen_examples.csv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Imóveis sem preço, para gerar previsões após o treino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97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Como os arquivos se conectam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kc_house_data.csv e future_unseen_examples.csv compartilham as mesmas 18 colunas físicas (menos id/date/price).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O merge com zipcode_demographics.csv é feito pela coluna zipcode, presente nos três arquivos.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Os 70 CEPs de kc_house_data.csv têm correspondência 1:1 com zipcode_demographics.csv — nenhuma linha perdida no merge.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828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 i="0">
                <a:solidFill>
                  <a:srgbClr val="4C72B0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14600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Análise e Entendimento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34290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B9C7D6"/>
                </a:solidFill>
                <a:latin typeface="Calibri"/>
              </a:rPr>
              <a:t>Variáveis, correlações, outliers e o merge com dados demográficos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A8B9E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8B9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1. ANÁLISE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Visão geral do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0604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F2D3D"/>
                </a:solidFill>
                <a:latin typeface="Calibri"/>
              </a:rPr>
              <a:t>21.613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transações de venda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63040"/>
            <a:ext cx="260604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572768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F2D3D"/>
                </a:solidFill>
                <a:latin typeface="Calibri"/>
              </a:rPr>
              <a:t>02/mai/2014 – 27/mai/2015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48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período coberto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463040"/>
            <a:ext cx="260604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572768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F2D3D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48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valores nulos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463040"/>
            <a:ext cx="260604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572768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F2D3D"/>
                </a:solidFill>
                <a:latin typeface="Calibri"/>
              </a:rPr>
              <a:t>177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148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imóveis vendidos 2x na janela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Grupos de variáveis físicas do imóvel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●  Alvo: price (preço de venda em USD)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●  Tamanho/estrutura: sqft_living, sqft_lot, sqft_above, sqft_basement, bedrooms, bathrooms, floors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●  Qualidade/condição: grade (1–13) e condition (1–5)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42900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●  Localização: zipcode, lat, long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●  Contexto de vizinhança: sqft_living15, sqft_lot15 (médias das 15 casas mais próximas)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●  Idade/reforma: yr_built, yr_renovated  ·  Amenidades: waterfront,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1. ANÁLISE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Distribuição do preço (variável alvo)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863840" cy="2883206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549640" y="1554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Estatísticas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65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Média: US$ 540 mil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Mediana: US$ 450 mil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Mínimo: US$ 75 mil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Máximo: US$ 7,7 milhões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Forte assimetria à direita — poucos imóveis de luxo puxam a média para cima.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log(preço) muito mais próximo de uma distribuição normal.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1. ANÁLISE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Outliers e qualidade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sqft_lot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417320"/>
            <a:ext cx="4023360" cy="2644638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44E52"/>
                </a:solidFill>
                <a:latin typeface="Calibri"/>
              </a:rPr>
              <a:t>bedrooms = 33 (erro de captura)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Um imóvel com 33 quartos e apenas 1.620 sqft de área construída — fisicamente incoerente (~49 sqft/quarto).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Quase certamente um erro de digitação (provavelmente "3"). Removido antes do treino.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DD8E33"/>
                </a:solidFill>
                <a:latin typeface="Calibri"/>
              </a:rPr>
              <a:t>177 imóveis vendidos duas vezes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Não é erro — reamostragem legítima do mesmo imóvel em datas diferentes.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Exige cuidado no split treino/teste (agrupar por id) para não vazar dados.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0916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2D3D"/>
                </a:solidFill>
                <a:latin typeface="Calibri"/>
              </a:rPr>
              <a:t>sqft_lot com cauda longa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Lotes de até 1,65 milhão de sqft (~38 acres) — motivo para preferir modelos de árvore a modelos lineares.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1. ANÁLISE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Correlação das variáveis físicas com o preço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correlation_with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488707" cy="525780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675120" y="1463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Principais correlações (Pearson)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sqft_living (0,70) — área construída é o preditor isolado mais forte.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grade (0,67) — nota de qualidade de construção/acabamento.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sqft_above (0,61) e sqft_living15 (0,59).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zipcode isolado tem correlação linear fraca — mas isso não significa baixa relevância: sua relação com o preço é não-linear (capturada por modelos de árvore).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1. ANÁLISE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Efeito da localização geográfica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price_by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80160"/>
            <a:ext cx="5177426" cy="521208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1554480"/>
            <a:ext cx="374903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333333"/>
                </a:solidFill>
                <a:latin typeface="Calibri"/>
              </a:rPr>
              <a:t>Plotar lat/long colorido pelo preço mostra que o valor depende fortemente de ONDE o imóvel está (proximidade da água, de Seattle/Bellevue) — informação que zipcode sozinho não captura bem para um modelo linear.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1. ANÁLISE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Combinando dados físicos e demográficos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demographics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458761" cy="525780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675120" y="1463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Merge direto, sem perda de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70 CEPs em kc_house_data.csv ↔ 70 CEPs em zipcode_demographics.csv — correspondência 1:1 perfeita.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Renda mediana do CEP, valor mediano dos imóveis do CEP e escolaridade superior (% bacharel/profissional) têm correlação positiva relevante com o preço.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Confirma: bairros mais ricos e mais escolarizados têm imóveis mais caros — dado demográfico agrega sinal que o físico sozinho não 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1. ANÁLISE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Conclusões da análise exploratória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●  Tamanho construído (sqft_living) e qualidade (grade) são os drivers físicos mais fortes de preço.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●  Localização (lat/long, zipcode e demografia associada) adiciona sinal que as variáveis físicas não capturam sozinhas.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●  1 outlier claro de captura de dados (bedrooms=33) corrigido antes do treino.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●  177 imóveis vendidos duas vezes exigem split treino/teste agrupado por id, para não vazar dados.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●  Merge com dados demográficos é direto (100% de correspondência de CEP) e adiciona contexto socioeconômico sem custo de qualidade de dados.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828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 i="0">
                <a:solidFill>
                  <a:srgbClr val="4C72B0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14600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Desenvolvimento do Modelo de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34290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B9C7D6"/>
                </a:solidFill>
                <a:latin typeface="Calibri"/>
              </a:rPr>
              <a:t>Variáveis importantes, escolha do modelo e generalização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A8B9E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8B9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2. MODELO DE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a. Variáveis mais importantes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88080" cy="484632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675120" y="14173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Top features do modelo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grade e sqft_living — maiores pesos isolados (qualidade + tamanho do imóvel).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per_bchlr (% com bacharel no CEP) e hous_val_amt (valor mediano do CEP) — perfil socioeconômico do bairro quase tão relevante quanto a casa em si.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per_prfsnl e lat — reforçam o efeito de localização/bairro.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waterfront — amenidade rara (~0,75% dos imóveis) mas com forte prêmio de preço.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Confirma a hipótese da EDA: preço = função do imóvel + função do bairro.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2. MODELO DE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b. Comparação de modelos — não-ensemble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6 modelos de um único preditor (sem combinar vários modelos), validação cruzada agrupada (5 folds)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642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3236"/>
                <a:gridCol w="2252013"/>
                <a:gridCol w="2252013"/>
                <a:gridCol w="1958272"/>
                <a:gridCol w="1468704"/>
              </a:tblGrid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MLP (rede neural)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US$ 141.291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US$ 83.918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16.4%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0.851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US$ 156.306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US$ 78.530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14.2%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0.817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US$ 161.966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US$ 90.881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16.9%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0.803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Regressão Linear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US$ 167.452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US$ 101.914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21.1%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0.790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Lasso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US$ 167.607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US$ 101.985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21.2%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0.790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US$ 167.710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US$ 102.091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21.2%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0.790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model_comparison_non_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114800"/>
            <a:ext cx="4702654" cy="214884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2. MODELO DE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b. Comparação de modelos —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10 modelos que combinam várias previsões (bagging, boosting, blending)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572768"/>
          <a:ext cx="548639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709"/>
                <a:gridCol w="1769806"/>
                <a:gridCol w="1061883"/>
              </a:tblGrid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D3D"/>
                          </a:solidFill>
                          <a:latin typeface="Calibri"/>
                        </a:rPr>
                        <a:t>Stacking (XGB+LGBM+RF)</a:t>
                      </a:r>
                    </a:p>
                  </a:txBody>
                  <a:tcPr marT="25400" marB="25400" anchor="ctr">
                    <a:solidFill>
                      <a:srgbClr val="DDE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D3D"/>
                          </a:solidFill>
                          <a:latin typeface="Calibri"/>
                        </a:rPr>
                        <a:t>US$ 116.390</a:t>
                      </a:r>
                    </a:p>
                  </a:txBody>
                  <a:tcPr marT="25400" marB="25400" anchor="ctr">
                    <a:solidFill>
                      <a:srgbClr val="DDE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D3D"/>
                          </a:solidFill>
                          <a:latin typeface="Calibri"/>
                        </a:rPr>
                        <a:t>0.898</a:t>
                      </a:r>
                    </a:p>
                  </a:txBody>
                  <a:tcPr marT="25400" marB="25400" anchor="ctr">
                    <a:solidFill>
                      <a:srgbClr val="DDEAE1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US$ 117.054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0.897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Voting (XGB+LGBM+RF)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US$ 117.228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0.897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US$ 117.356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0.897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US$ 117.475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0.897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US$ 119.669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0.892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HistGradientBoosting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US$ 125.923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0.881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Extra Trees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US$ 127.258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0.879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US$ 128.908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0.876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0733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AdaBoost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US$ 161.584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0.805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model_comparison_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00200"/>
            <a:ext cx="5669280" cy="368329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2. MODELO DE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b. Por que Stacking foi o escolhido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Melhor desempenho entre os 16 candidatos na validação cruzada, confirmado no holdout final.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Ganho vem de diversidade real: XGBoost, LightGBM e Random Forest erram de formas parcialmente diferentes — Voting (média simples dos mesmos 3) também aparece entre os melhores, confirmando que a diversidade em si já ajuda.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Resultado robusto, não específico de uma lib: XGBoost, CatBoost, LightGBM e Gradient Boosting (4 implementações independentes de boosting) terminam muito próximas entre si.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Continua interpretável: importância de features = média dos 3 modelos de árvore que compõem o stacking.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26280"/>
            <a:ext cx="10881360" cy="18288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D8E33"/>
                </a:solidFill>
                <a:latin typeface="Calibri"/>
              </a:rPr>
              <a:t>Custo a reconhecer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●  Stacking é mais caro de treinar/servir que um XGBoost isolado, para um ganho de ~0,6% de RMSE — XGBoost sozinho é uma escolha perfeitamente razoável para quem priorizar simplicidade operacional.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2. MODELO DE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c. Generalização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Split por grupo, não aleatório: 177 imóveis vendidos 2x nunca aparecem simultaneamente em treino e teste (GroupShuffleSplit/GroupKFold por id).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Holdout final usado uma única vez, só para reportar a métrica de generalização — toda decisão de modelo/hiperparâmetro olhou somente a validação cruzada no treino.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Validação cruzada (5-fold agrupada) tanto para comparar os 16 modelos quanto para a busca de hiperparâmetros (RandomizedSearchCV).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Regularização via hiperparâmetros dos modelos de base: max_depth limitado, subsample/colsample_bytree &lt; 1, learning_rate baixo com mais árvores.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Remoção do outlier bedrooms=33 antes do treino, evitando que o modelo aprenda um padrão espúrio.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Holdout final (R²=0.911) muito próximo da validação cruzada (R²=0.898) — sem sinal de sobreajuste ao processo de seleção.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2. MODELO DE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c. Resultado final (dados nunca vistos no treino)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pic>
        <p:nvPicPr>
          <p:cNvPr id="8" name="Picture 7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670132" cy="269748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269480" y="1371600"/>
            <a:ext cx="2103120" cy="105156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48132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US$ 111.319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9933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B9C7D6"/>
                </a:solidFill>
                <a:latin typeface="Calibri"/>
              </a:rPr>
              <a:t>RMSE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371600"/>
            <a:ext cx="2103120" cy="105156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148132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US$ 63.654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19933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B9C7D6"/>
                </a:solidFill>
                <a:latin typeface="Calibri"/>
              </a:rPr>
              <a:t>MAE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606039"/>
            <a:ext cx="2103120" cy="105156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271576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12.2%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2278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B9C7D6"/>
                </a:solidFill>
                <a:latin typeface="Calibri"/>
              </a:rPr>
              <a:t>MAPE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2606039"/>
            <a:ext cx="2103120" cy="105156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271576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0.911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2278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B9C7D6"/>
                </a:solidFill>
                <a:latin typeface="Calibri"/>
              </a:rPr>
              <a:t>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5196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Real vs. Previsto — conjunto de teste (nunca visto no treino)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54880"/>
            <a:ext cx="11338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Modelo preciso na maior parte da faixa de preços; mais incerteza em imóveis de altíssimo padrão (acima de ~US$ 2–3 milhões) — poucos exemplos no histórico e preços mais influenciados por características não capturadas nos dados.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2. MODELO DE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Intervalo de previsão (não só um ponto)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pic>
        <p:nvPicPr>
          <p:cNvPr id="8" name="Picture 7" descr="prediction_inter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315200" cy="3620655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04672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Regressão quantílica (p10–p90)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●  2 modelos LightGBM extras estimam os percentis 10 e 90 do preço.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●  Cobertura empírica: 72.4% (nominal: 80.0%).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●  Faixa hoje um pouco mais estreita do que deveria — suficiente para direção, ainda não calibrada para compromissos formais de preço.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●  Sem nenhum caso de "quantile crossing" (limite invertido).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828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 i="0">
                <a:solidFill>
                  <a:srgbClr val="4C72B0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14600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Estratégia de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34290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B9C7D6"/>
                </a:solidFill>
                <a:latin typeface="Calibri"/>
              </a:rPr>
              <a:t>Desenhada — e, aqui, também implementada de verdade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A8B9E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8B9E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3.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As 5 camadas da arquitetura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8883" y="1920240"/>
            <a:ext cx="1965960" cy="105156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Ingestão &amp;
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883" y="30632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6B7280"/>
                </a:solidFill>
                <a:latin typeface="Calibri"/>
              </a:rPr>
              <a:t>Desenho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34843" y="2441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90875" y="1920240"/>
            <a:ext cx="1965960" cy="1051560"/>
          </a:xfrm>
          <a:prstGeom prst="roundRect">
            <a:avLst/>
          </a:prstGeom>
          <a:solidFill>
            <a:srgbClr val="DD8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Treino &amp;
Model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0875" y="30632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DD8E33"/>
                </a:solidFill>
                <a:latin typeface="Calibri"/>
              </a:rPr>
              <a:t>Parcial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56835" y="2441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12867" y="1920240"/>
            <a:ext cx="1965960" cy="1051560"/>
          </a:xfrm>
          <a:prstGeom prst="round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Serving
(API)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2867" y="30632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55A868"/>
                </a:solidFill>
                <a:latin typeface="Calibri"/>
              </a:rPr>
              <a:t>Implementado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78827" y="2441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34859" y="1920240"/>
            <a:ext cx="1965960" cy="1051560"/>
          </a:xfrm>
          <a:prstGeom prst="roundRect">
            <a:avLst/>
          </a:prstGeom>
          <a:solidFill>
            <a:srgbClr val="DD8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Monitoramento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4859" y="30632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DD8E33"/>
                </a:solidFill>
                <a:latin typeface="Calibri"/>
              </a:rPr>
              <a:t>Parcial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00819" y="2441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56851" y="1920240"/>
            <a:ext cx="1965960" cy="1051560"/>
          </a:xfrm>
          <a:prstGeom prst="roundRect">
            <a:avLst/>
          </a:prstGeom>
          <a:solidFill>
            <a:srgbClr val="DD8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Versionamento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6851" y="30632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DD8E33"/>
                </a:solidFill>
                <a:latin typeface="Calibri"/>
              </a:rPr>
              <a:t>Parcial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883" y="3520440"/>
            <a:ext cx="108539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Legenda:  </a:t>
            </a:r>
            <a:r>
              <a:rPr sz="1200" b="1">
                <a:solidFill>
                  <a:srgbClr val="55A868"/>
                </a:solidFill>
                <a:latin typeface="Calibri"/>
              </a:rPr>
              <a:t>implementado e testado</a:t>
            </a:r>
            <a:r>
              <a:rPr sz="1200" b="0">
                <a:solidFill>
                  <a:srgbClr val="6B7280"/>
                </a:solidFill>
                <a:latin typeface="Calibri"/>
              </a:rPr>
              <a:t>   ·   </a:t>
            </a:r>
            <a:r>
              <a:rPr sz="1200" b="1">
                <a:solidFill>
                  <a:srgbClr val="DD8E33"/>
                </a:solidFill>
                <a:latin typeface="Calibri"/>
              </a:rPr>
              <a:t>parcialmente implementado</a:t>
            </a:r>
            <a:r>
              <a:rPr sz="1200" b="0">
                <a:solidFill>
                  <a:srgbClr val="6B7280"/>
                </a:solidFill>
                <a:latin typeface="Calibri"/>
              </a:rPr>
              <a:t>   ·   </a:t>
            </a:r>
            <a:r>
              <a:rPr sz="1200" b="1">
                <a:solidFill>
                  <a:srgbClr val="6B7280"/>
                </a:solidFill>
                <a:latin typeface="Calibri"/>
              </a:rPr>
              <a:t>apenas desenhado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38862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760720"/>
                <a:gridCol w="36576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Camada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 que faz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Ingestão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Valida schema/qualidade dos dados novos, aplica merge demográfico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Desenho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Treino &amp; Registry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Reexecuta o treino, gate de qualidade, versiona o modelo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Parcial (registry simplificado por hash, implementado)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Serving (API)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FastAPI + Docker + Kubernetes, cache Redis, validação de entrada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Implementado e testado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Monitoramento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Logs de predição via Langfuse; drift/performance real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Parcial (logging real; drift/performance = desenho)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Versionamento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Hash do artefato via API; código via Git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Parcial (dados = desenho)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3.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Arquitetura completa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234440"/>
            <a:ext cx="7680960" cy="5669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Dados de treino  —  kc_house_data.csv + zipcode_demographics.csv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1801368"/>
            <a:ext cx="0" cy="283463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2103120"/>
            <a:ext cx="10332720" cy="1234440"/>
          </a:xfrm>
          <a:prstGeom prst="roundRect">
            <a:avLst/>
          </a:prstGeom>
          <a:noFill/>
          <a:ln w="19050">
            <a:solidFill>
              <a:srgbClr val="4C72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1920239"/>
            <a:ext cx="2560320" cy="329184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PIPELINE OFFLINE (BATCH)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359152"/>
            <a:ext cx="2880360" cy="82296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src/train.py
16 modelos, seleção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2770632"/>
            <a:ext cx="32004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89120" y="2359152"/>
            <a:ext cx="3063240" cy="82296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continuous_learning.py
retreino + gate de qualidade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52360" y="2770632"/>
            <a:ext cx="32004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359152"/>
            <a:ext cx="3108960" cy="82296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models/
artefatos versionados (hash)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217920" y="3182112"/>
            <a:ext cx="3108960" cy="356616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3566160"/>
            <a:ext cx="6400800" cy="2651760"/>
          </a:xfrm>
          <a:prstGeom prst="roundRect">
            <a:avLst/>
          </a:prstGeom>
          <a:noFill/>
          <a:ln w="19050">
            <a:solidFill>
              <a:srgbClr val="55A86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383279"/>
            <a:ext cx="2103120" cy="329184"/>
          </a:xfrm>
          <a:prstGeom prst="round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DOCKER / KUBERNETES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77639"/>
            <a:ext cx="3566160" cy="201168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Pod: API (FastAPI)
deploy/api
Routers · ModelRegistry
FeatureBuilder · PredictionCache
ObservabilityService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434840"/>
            <a:ext cx="2011680" cy="914400"/>
          </a:xfrm>
          <a:prstGeom prst="round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Pod: Redis
(cache de previsões)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5486400"/>
            <a:ext cx="749808" cy="36576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5486400"/>
            <a:ext cx="749808" cy="36576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Ingress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486400"/>
            <a:ext cx="749808" cy="36576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HPA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3566160"/>
            <a:ext cx="2834640" cy="1554480"/>
          </a:xfrm>
          <a:prstGeom prst="roundRect">
            <a:avLst/>
          </a:prstGeom>
          <a:noFill/>
          <a:ln w="19050">
            <a:solidFill>
              <a:srgbClr val="DD8E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06640" y="3383279"/>
            <a:ext cx="1737360" cy="329184"/>
          </a:xfrm>
          <a:prstGeom prst="roundRect">
            <a:avLst/>
          </a:prstGeom>
          <a:solidFill>
            <a:srgbClr val="DD8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OBSERVABILIDADE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3913632"/>
            <a:ext cx="2377440" cy="105156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Langfuse (self-hosted)
Web/Worker + Postgres +
ClickHouse + MinIO + Redis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97680" y="4206240"/>
            <a:ext cx="315468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46320" y="37947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traces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4526280"/>
            <a:ext cx="1417320" cy="10972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Clientes
App / Corretores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6903720" y="5074920"/>
            <a:ext cx="333756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5200" y="5120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HTTP (requisições)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3.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Como funciona, passo a passo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457200" cy="45720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98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Dados de treino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298448"/>
            <a:ext cx="7635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kc_house_data.csv + zipcode_demographics.csv alimentam o pipeline offline.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93391"/>
            <a:ext cx="457200" cy="45720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96596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Treino inicial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965960"/>
            <a:ext cx="7635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src/train.py compara e seleciona entre 16 modelos (ver seção 2) — gera o campeão.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60903"/>
            <a:ext cx="457200" cy="45720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63347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Retreino contínuo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633472"/>
            <a:ext cx="7635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src/continuous_learning.py retreina com dados novos e só promove se passar no gate de qualidade out-of-time (seção 4).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28415"/>
            <a:ext cx="457200" cy="45720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0098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Artefatos versionados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300984"/>
            <a:ext cx="7635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Modelo aprovado é salvo em models/ (versionado por hash) — carregado pelo Pod da API no startup, ou via hot-reload sem reiniciar.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95927"/>
            <a:ext cx="457200" cy="45720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968495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Serving (Docker/Kubernetes)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968495"/>
            <a:ext cx="7635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O Pod da API valida a entrada, monta as features, consulta o Redis (cache) e só chama o modelo se não houver previsão cacheada.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457200" cy="45720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36007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Observabilidade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636007"/>
            <a:ext cx="7635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Toda requisição vira uma trace no Langfuse: input, output, latência, cache hit — para auditoria e detecção futura de drift.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30952"/>
            <a:ext cx="457200" cy="45720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0352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Clientes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5303520"/>
            <a:ext cx="7635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Apps internos e corretores consomem a API via HTTP, entrando pelo Ingress do cluster.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3.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Implementação real: API 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  <a:latin typeface="Calibri"/>
              </a:rPr>
              <a:t>●  deploy/api/ — FastAPI orientada a objetos e tipada: routers, services (ModelRegistry, FeatureBuilder, PredictionCache, ObservabilityService), schemas Pydantic.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  <a:latin typeface="Calibri"/>
              </a:rPr>
              <a:t>●  Cache de previsões em Redis, chaveado por (features, versão do modelo).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  <a:latin typeface="Calibri"/>
              </a:rPr>
              <a:t>●  Observabilidade via Langfuse — cada previsão vira uma trace com input/output/latência.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  <a:latin typeface="Calibri"/>
              </a:rPr>
              <a:t>●  Empacotada em Docker (multi-stage, imagem otimizada de 2,42GB → 1,09GB) e Kubernetes (Deployment, HPA, Ingress).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931920"/>
          <a:ext cx="110642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657600"/>
                <a:gridCol w="6126479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Rota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Descrição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/v1/predictions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Prevê preço (ponto + intervalo p10–p90) de 1..N imóveis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/v1/model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Versão do modelo em produção, métricas de holdout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/health/live · /health/ready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Liveness / readiness probes (modelo + Redis)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/v1/admin/reload-model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Recarrega o modelo do disco sem reiniciar o processo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3.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Validado de ponta a ponta (não só desenhado)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13 testes de integração (pytest) rodando a aplicação completa, incluindo comparação bit-a-bit com outputs/future_predictions.csv.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Build Docker real, testado via docker-compose (API + Redis) com requisições reais via curl.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Cache Redis validado ponta a ponta: 1ª chamada sem cache, 2ª chamada servida do cache.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Manifests Kubernetes validados com kubectl kustomize (render completo).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>
                <a:solidFill>
                  <a:srgbClr val="333333"/>
                </a:solidFill>
                <a:latin typeface="Calibri"/>
              </a:rPr>
              <a:t>●  Langfuse self-hosted completo (Postgres+ClickHouse+MinIO+Redis+web+worker) subido de verdade: trace e scores (latency_ms, cache_hit_rate) conferidos via API do Langfuse, batendo exatamente com a resposta HTTP da previsão.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828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 i="0">
                <a:solidFill>
                  <a:srgbClr val="4C72B0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14600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Aprendizado Contínuo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34290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B9C7D6"/>
                </a:solidFill>
                <a:latin typeface="Calibri"/>
              </a:rPr>
              <a:t>Retreino, avaliação e substituição em produção — implementado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A8B9E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8B9E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4. APRENDIZADO CONTÍNUO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 ciclo de retreino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3767" y="1691640"/>
            <a:ext cx="2331720" cy="105156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Gatilho
(agendado/drift)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15487" y="2212848"/>
            <a:ext cx="3657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81247" y="1691640"/>
            <a:ext cx="2331720" cy="105156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Retreino
(out-of-time)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2967" y="2212848"/>
            <a:ext cx="3657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78727" y="1691640"/>
            <a:ext cx="2331720" cy="1051560"/>
          </a:xfrm>
          <a:prstGeom prst="roundRect">
            <a:avLst/>
          </a:prstGeom>
          <a:solidFill>
            <a:srgbClr val="DD8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Gate de
qualidade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10447" y="2212848"/>
            <a:ext cx="3657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76207" y="1691640"/>
            <a:ext cx="2331720" cy="1051560"/>
          </a:xfrm>
          <a:prstGeom prst="round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Promove /
Rejeita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066647" y="2926080"/>
            <a:ext cx="10058400" cy="502920"/>
          </a:xfrm>
          <a:prstGeom prst="line">
            <a:avLst/>
          </a:prstGeom>
          <a:ln w="19050">
            <a:solidFill>
              <a:srgbClr val="C44E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3767" y="3474720"/>
            <a:ext cx="104241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C44E52"/>
                </a:solidFill>
                <a:latin typeface="Calibri"/>
              </a:rPr>
              <a:t>rollback, se necessário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Implementado em src/continuous_learning.py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●  Split out-of-time real (não aleatório): treino até uma data de corte, avaliação nos dias seguintes.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●  Gate automático: promove só se o desafiante não piorar o RMSE além de uma tolerância (padrão 2%).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●  Backup automático antes de promover + --rollback para desfazer.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●  --notify-url aciona POST /v1/admin/reload-model — a API já implementada troca de versão sem reiniciar.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4. APRENDIZADO CONTÍNUO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Validação real: gate funciona nos dois sentidos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333333"/>
                </a:solidFill>
                <a:latin typeface="Calibri"/>
              </a:rPr>
              <a:t>Achado ao testar de verdade: comparar o desafiante contra o RMSE gravado do campeão é injusto (splits diferentes — e o campeão deste repo viu 100% do histórico). Corrigido reavaliando o campeão na mesma janela out-of-time.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331720"/>
          <a:ext cx="1106423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000"/>
                <a:gridCol w="3627619"/>
                <a:gridCol w="3627619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Campeão (até nov/2014)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Desafiante (até mar/2015)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Linhas de treino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11.755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16.866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RMSE na mesma janela out-of-time (abr/2015)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US$ 116.705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US$ 112.452 (melhor)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1605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Round-trip completo contra os arquivos reais do projeto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Promoção real → API confirmou nova versão (2c897d92d0bf) via GET /v1/model.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--rollback → nova chamada a /v1/admin/reload-model → API de volta à versão original (4a11cf998ec9).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●  Os 5 artefatos conferidos byte-a-byte contra uma cópia de segurança: idênticos. Repositório termina exatamente como começou.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828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 i="0">
                <a:solidFill>
                  <a:srgbClr val="4C72B0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14600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Comunicação com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34290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B9C7D6"/>
                </a:solidFill>
                <a:latin typeface="Calibri"/>
              </a:rPr>
              <a:t>Traduzindo métricas técnicas em decisões de 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A8B9E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8B9E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5. COMUNICAÇÃO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pergunta de 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371600"/>
            <a:ext cx="9601200" cy="105156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"Dado um imóvel novo, qual o preço de mercado esperado — e o quão confiável é essa estimativa?"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O que os dados mostram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Tamanho e qualidade de construção vendem: sqft_living e grade são os fatores mais associados ao preço.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Bairro importa tanto quanto a casa: renda e escolaridade do CEP também se relacionam fortemente com o preço.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Qualidade dos dados foi auditada: 1 erro de digitação óbvio corrigido antes de treinar (credibilidade importa quando a decisão afeta uma negociação real).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5. COMUNICAÇÃO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Traduzindo métricas técnicas para 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Métrica técnica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Como comunicar para negócio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MAE = US$ 64 mil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"Em média, a estimativa erra por ~US$ 64 mil para mais ou para menos"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MAPE = 12%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"O erro típico é de ~12% do valor do imóvel"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R² = 0,91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"O modelo captura ~91% dos fatores que explicam a variação de preço na região"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840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C72B0"/>
                </a:solidFill>
                <a:latin typeface="Calibri"/>
              </a:rPr>
              <a:t>Sempre entregar uma faixa, não um número único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  <a:latin typeface="Calibri"/>
              </a:rPr>
              <a:t>●  "US$ 420k – US$ 480k" em vez de só "US$ 450.000" — já implementado (predicted_price_low/high).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  <a:latin typeface="Calibri"/>
              </a:rPr>
              <a:t>●  Mais honesto sobre a incerteza, e mais próximo de como o mercado imobiliário já comunica avaliações (laudos trazem faixas).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5. COMUNICAÇÃO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Próximos passos sugeridos ao 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●  Validar o modelo com um piloto controlado: comparar a estimativa com o preço final de venda em imóveis já negociados, fora da amostra de treino.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●  Definir, com o time comercial, o erro máximo aceitável por caso de uso (triagem interna tolera mais erro que uma proposta enviada ao cliente).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●  Acompanhar o plano de aprendizado contínuo para manter a precisão à medida que o mercado muda.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FC3DA"/>
                </a:solidFill>
                <a:latin typeface="Calibri"/>
              </a:rP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Resumo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Desafio de Data Science — Previsão de Preços de Casas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9283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19"/>
                <a:gridCol w="7360919"/>
              </a:tblGrid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Entregável do desafio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Onde está</a:t>
                      </a:r>
                    </a:p>
                  </a:txBody>
                  <a:tcPr marT="38100" marB="38100" anchor="ctr">
                    <a:solidFill>
                      <a:srgbClr val="1F2D3D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1. Análise dos dados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notebooks/01_eda.ipynb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2. Modelo (a/b/c)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docs/model.md · src/train.py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3. Estratégia de deploy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docs/deploy_strategy.md  +  deploy/ (implementado)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4. Aprendizado contínuo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docs/continuous_learning.md  +  src/continuous_learning.py (implementado)</a:t>
                      </a:r>
                    </a:p>
                  </a:txBody>
                  <a:tcPr marT="25400" marB="25400" anchor="ctr">
                    <a:solidFill>
                      <a:srgbClr val="F3F4F6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5. Comunicação com stakeholders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docs/stakeholder_communication.md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9D6E3"/>
                </a:solidFill>
                <a:latin typeface="Calibri"/>
              </a:rPr>
              <a:t>github.com/AIWASS23/gen_ai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9FB3C9"/>
                </a:solidFill>
                <a:latin typeface="Calibri"/>
              </a:rPr>
              <a:t>README.md · docs/ · deploy/ · src/ — código, testes e resultados reproduzíveis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